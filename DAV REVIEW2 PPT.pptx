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9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71800" y="1417320"/>
            <a:ext cx="6400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3000" b="1" dirty="0">
                <a:solidFill>
                  <a:srgbClr val="AD192C"/>
                </a:solidFill>
                <a:latin typeface="Aptos"/>
              </a:rPr>
              <a:t>TOURISM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3240" y="2468880"/>
            <a:ext cx="6217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000" b="1">
                <a:solidFill>
                  <a:srgbClr val="242A32"/>
                </a:solidFill>
                <a:latin typeface="Aptos"/>
              </a:rPr>
              <a:t>Using Descriptive and Predictive Data Mining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39" y="3470148"/>
            <a:ext cx="56692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600" b="0" dirty="0">
                <a:solidFill>
                  <a:srgbClr val="586069"/>
                </a:solidFill>
                <a:latin typeface="Aptos"/>
              </a:rPr>
              <a:t>Batch-4</a:t>
            </a:r>
          </a:p>
          <a:p>
            <a:pPr algn="ctr"/>
            <a:r>
              <a:rPr lang="en-IN" sz="1600" dirty="0">
                <a:solidFill>
                  <a:srgbClr val="586069"/>
                </a:solidFill>
                <a:latin typeface="Aptos"/>
              </a:rPr>
              <a:t>SECTION-7</a:t>
            </a:r>
            <a:endParaRPr sz="1600" b="0" dirty="0">
              <a:solidFill>
                <a:srgbClr val="58606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749039" y="4660489"/>
            <a:ext cx="4982006" cy="1150375"/>
          </a:xfrm>
          <a:prstGeom prst="roundRect">
            <a:avLst>
              <a:gd name="adj" fmla="val 7109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300" b="1" dirty="0">
                <a:solidFill>
                  <a:srgbClr val="AD192C"/>
                </a:solidFill>
                <a:latin typeface="Aptos"/>
              </a:rPr>
              <a:t>G.HASINI-2420030421</a:t>
            </a:r>
          </a:p>
          <a:p>
            <a:pPr algn="ctr"/>
            <a:r>
              <a:rPr lang="en-IN" sz="1300" b="1" dirty="0">
                <a:solidFill>
                  <a:srgbClr val="AD192C"/>
                </a:solidFill>
                <a:latin typeface="Aptos"/>
              </a:rPr>
              <a:t>G.KEERTANA-2420090075</a:t>
            </a:r>
          </a:p>
          <a:p>
            <a:pPr algn="ctr"/>
            <a:r>
              <a:rPr lang="en-IN" sz="1300" b="1" dirty="0">
                <a:solidFill>
                  <a:srgbClr val="AD192C"/>
                </a:solidFill>
                <a:latin typeface="Aptos"/>
              </a:rPr>
              <a:t>S.RISHITHA-2420090060</a:t>
            </a:r>
            <a:endParaRPr sz="1300" b="1" dirty="0">
              <a:solidFill>
                <a:srgbClr val="AD192C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FE9BE8-3E00-9600-A825-130FFF88F2CF}"/>
              </a:ext>
            </a:extLst>
          </p:cNvPr>
          <p:cNvSpPr txBox="1"/>
          <p:nvPr/>
        </p:nvSpPr>
        <p:spPr>
          <a:xfrm>
            <a:off x="5270091" y="453793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REVIEW 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Abstract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0">
                <a:solidFill>
                  <a:srgbClr val="586069"/>
                </a:solidFill>
                <a:latin typeface="Aptos"/>
              </a:rPr>
              <a:t>A data-driven framework for understanding and forecasting tourism activity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pPr algn="ctr"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Tourism analytics combines historical, behavioral, geographic and contextual data to support destination decisions.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Descriptive mining explains what happened through trends, distributions, seasonality and visitor segments.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Predictive mining estimates future arrivals, demand, revenue or crowd levels using statistical and machine-learning models.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The proposed system connects data ingestion, preprocessing, analytics, forecasting and dashboard-based decision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389120"/>
          </a:xfrm>
          <a:prstGeom prst="roundRect">
            <a:avLst/>
          </a:prstGeom>
          <a:solidFill>
            <a:srgbClr val="FCF8F8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pPr algn="ctr"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Objectives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• Identify high-demand periods and destination patterns.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• Forecast tourist arrivals using historical and external variables.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• Compare baseline and machine-learning models.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• Present interpretable insights through charts, KPIs and alerts.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• Support resource planning, marketing and crowd management.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586069"/>
                </a:solidFill>
                <a:latin typeface="Aptos"/>
              </a:rPr>
              <a:t>Tourism Analytics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Problem Statement &amp; Analytics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5212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000" b="1">
                <a:solidFill>
                  <a:srgbClr val="AD192C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212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pPr algn="ctr"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Tourist demand is seasonal, nonlinear and sensitive to weather, holidays, events, prices and disruptions.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Raw tourism data is often distributed across booking systems, government portals, reviews and search trends.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Decision-makers need both historical explanations and forward-looking estimates.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A unified analytics pipeline reduces manual analysis and improves consistency.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325880"/>
            <a:ext cx="5212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2000" b="1">
                <a:solidFill>
                  <a:srgbClr val="AD192C"/>
                </a:solidFill>
                <a:latin typeface="Aptos"/>
              </a:rPr>
              <a:t>Scope of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21208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pPr algn="ctr"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Inputs: arrivals, bookings, occupancy, weather, holidays, events, reviews and search interest.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Descriptive outputs: KPIs, trends, seasonality, visitor segments and destination comparisons.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Predictive outputs: next-period arrivals, demand category and anomaly warnings.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Users: tourism boards, hotels, transport providers, local authorities and researchers.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586069"/>
                </a:solidFill>
                <a:latin typeface="Aptos"/>
              </a:rPr>
              <a:t>Tourism Analytics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154680" cy="54864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1. Data Collection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75688"/>
            <a:ext cx="3154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300" b="0">
                <a:solidFill>
                  <a:srgbClr val="242A32"/>
                </a:solidFill>
                <a:latin typeface="Aptos"/>
              </a:rPr>
              <a:t>APIs, CSV files, open data, reviews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417320"/>
            <a:ext cx="3154680" cy="54864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2. Data Preparation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75688"/>
            <a:ext cx="3154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300" b="0">
                <a:solidFill>
                  <a:srgbClr val="242A32"/>
                </a:solidFill>
                <a:latin typeface="Aptos"/>
              </a:rPr>
              <a:t>Cleaning, missing values, encoding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17320"/>
            <a:ext cx="3154680" cy="54864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3. Feature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075688"/>
            <a:ext cx="3154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300" b="0">
                <a:solidFill>
                  <a:srgbClr val="242A32"/>
                </a:solidFill>
                <a:latin typeface="Aptos"/>
              </a:rPr>
              <a:t>Lag, rolling mean, seasonality,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3154680" cy="54864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4. Descriptive Mining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87368"/>
            <a:ext cx="3154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300" b="0">
                <a:solidFill>
                  <a:srgbClr val="242A32"/>
                </a:solidFill>
                <a:latin typeface="Aptos"/>
              </a:rPr>
              <a:t>KPIs, clustering, correlation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429000"/>
            <a:ext cx="3154680" cy="54864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5. Predictive Mining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4087368"/>
            <a:ext cx="3154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300" b="0">
                <a:solidFill>
                  <a:srgbClr val="242A32"/>
                </a:solidFill>
                <a:latin typeface="Aptos"/>
              </a:rPr>
              <a:t>ARIMA, Random Forest, XGBoost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429000"/>
            <a:ext cx="3154680" cy="54864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6.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087368"/>
            <a:ext cx="3154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300" b="0">
                <a:solidFill>
                  <a:srgbClr val="242A32"/>
                </a:solidFill>
                <a:latin typeface="Aptos"/>
              </a:rPr>
              <a:t>MAE, RMSE, MAPE, R²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586069"/>
                </a:solidFill>
                <a:latin typeface="Aptos"/>
              </a:rPr>
              <a:t>Tourism Analytics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System Design / 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586069"/>
                </a:solidFill>
                <a:latin typeface="Aptos"/>
              </a:rPr>
              <a:t>Tourism Analytics  |  5</a:t>
            </a: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1CBCCFFC-27CE-710A-8905-5787A38B2E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B1EDADA-CFA0-FCFC-7484-C115AE3F0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16" y="1002890"/>
            <a:ext cx="10962968" cy="54710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Modern Tools &amp;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461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400" b="0">
                <a:solidFill>
                  <a:srgbClr val="242A32"/>
                </a:solidFill>
                <a:latin typeface="Aptos"/>
              </a:rPr>
              <a:t>pandas, NumPy, scikit-learn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417320"/>
            <a:ext cx="32461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Forecasting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400" b="0">
                <a:solidFill>
                  <a:srgbClr val="242A32"/>
                </a:solidFill>
                <a:latin typeface="Aptos"/>
              </a:rPr>
              <a:t>statsmodels, Prophet, XGBoost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17320"/>
            <a:ext cx="32461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Visualization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01168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400" b="0">
                <a:solidFill>
                  <a:srgbClr val="242A32"/>
                </a:solidFill>
                <a:latin typeface="Aptos"/>
              </a:rPr>
              <a:t>Plotly, Matplotlib, Power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32461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4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400" b="0">
                <a:solidFill>
                  <a:srgbClr val="242A32"/>
                </a:solidFill>
                <a:latin typeface="Aptos"/>
              </a:rPr>
              <a:t>FastAPI / Flask, REST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383280"/>
            <a:ext cx="32461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397764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400" b="0">
                <a:solidFill>
                  <a:srgbClr val="242A32"/>
                </a:solidFill>
                <a:latin typeface="Aptos"/>
              </a:rPr>
              <a:t>PostgreSQL / MySQL / cloud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383280"/>
            <a:ext cx="32461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97764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400" b="0">
                <a:solidFill>
                  <a:srgbClr val="242A32"/>
                </a:solidFill>
                <a:latin typeface="Aptos"/>
              </a:rPr>
              <a:t>Docker, Git, CI/CD, cloud VM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586069"/>
                </a:solidFill>
                <a:latin typeface="Aptos"/>
              </a:rPr>
              <a:t>Tourism Analytics  |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120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pPr algn="ctr">
              <a:spcAft>
                <a:spcPts val="500"/>
              </a:spcAft>
              <a:defRPr sz="1500">
                <a:solidFill>
                  <a:srgbClr val="242A32"/>
                </a:solidFill>
                <a:latin typeface="Aptos"/>
              </a:defRPr>
            </a:pPr>
            <a:r>
              <a:t>Step 1: Import and merge destination-level datasets.</a:t>
            </a:r>
          </a:p>
          <a:p>
            <a:pPr>
              <a:spcAft>
                <a:spcPts val="500"/>
              </a:spcAft>
              <a:defRPr sz="1500">
                <a:solidFill>
                  <a:srgbClr val="242A32"/>
                </a:solidFill>
                <a:latin typeface="Aptos"/>
              </a:defRPr>
            </a:pPr>
            <a:r>
              <a:t>Step 2: Handle missing values, duplicates, outliers and inconsistent categories.</a:t>
            </a:r>
          </a:p>
          <a:p>
            <a:pPr>
              <a:spcAft>
                <a:spcPts val="500"/>
              </a:spcAft>
              <a:defRPr sz="1500">
                <a:solidFill>
                  <a:srgbClr val="242A32"/>
                </a:solidFill>
                <a:latin typeface="Aptos"/>
              </a:defRPr>
            </a:pPr>
            <a:r>
              <a:t>Step 3: Create temporal features such as lag-1, lag-7, lag-12 and rolling mean.</a:t>
            </a:r>
          </a:p>
          <a:p>
            <a:pPr>
              <a:spcAft>
                <a:spcPts val="500"/>
              </a:spcAft>
              <a:defRPr sz="1500">
                <a:solidFill>
                  <a:srgbClr val="242A32"/>
                </a:solidFill>
                <a:latin typeface="Aptos"/>
              </a:defRPr>
            </a:pPr>
            <a:r>
              <a:t>Step 4: Train models using chronological train/test splits.</a:t>
            </a:r>
          </a:p>
          <a:p>
            <a:pPr>
              <a:spcAft>
                <a:spcPts val="500"/>
              </a:spcAft>
              <a:defRPr sz="1500">
                <a:solidFill>
                  <a:srgbClr val="242A32"/>
                </a:solidFill>
                <a:latin typeface="Aptos"/>
              </a:defRPr>
            </a:pPr>
            <a:r>
              <a:t>Step 5: Store predictions and evaluation metrics.</a:t>
            </a:r>
          </a:p>
          <a:p>
            <a:pPr>
              <a:spcAft>
                <a:spcPts val="500"/>
              </a:spcAft>
              <a:defRPr sz="1500">
                <a:solidFill>
                  <a:srgbClr val="242A32"/>
                </a:solidFill>
                <a:latin typeface="Aptos"/>
              </a:defRPr>
            </a:pPr>
            <a:r>
              <a:t>Step 6: Display insights in an interactive dashboard with country/destination filters.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371600"/>
            <a:ext cx="4892040" cy="3474720"/>
          </a:xfrm>
          <a:prstGeom prst="roundRect">
            <a:avLst/>
          </a:prstGeom>
          <a:solidFill>
            <a:srgbClr val="F7F8FA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l"/>
            <a:r>
              <a:rPr sz="1200" b="0">
                <a:solidFill>
                  <a:srgbClr val="242A32"/>
                </a:solidFill>
                <a:latin typeface="Aptos"/>
              </a:rPr>
              <a:t># Example feature engineering
df["date"] = pd.to_datetime(df["date"])
df = df.sort_values("date")
df["lag_1"] = df["arrivals"].shift(1)
df["rolling_7"] = df["arrivals"].rolling(7).mean()
df["month"] = df["date"].dt.month
df = df.dropna()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5074920"/>
            <a:ext cx="48920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300" b="1">
                <a:solidFill>
                  <a:srgbClr val="AD192C"/>
                </a:solidFill>
                <a:latin typeface="Aptos"/>
              </a:rPr>
              <a:t>Implementation principle: reproducible notebooks + version-controlled scripts + saved model artifacts.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586069"/>
                </a:solidFill>
                <a:latin typeface="Aptos"/>
              </a:rPr>
              <a:t>Tourism Analytics  | 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pic>
        <p:nvPicPr>
          <p:cNvPr id="4" name="Picture 3" descr="tourism_forecas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5486400" cy="2880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46520" y="1417320"/>
            <a:ext cx="4800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pPr algn="ctr">
              <a:spcAft>
                <a:spcPts val="500"/>
              </a:spcAft>
              <a:defRPr sz="1400">
                <a:solidFill>
                  <a:srgbClr val="242A32"/>
                </a:solidFill>
                <a:latin typeface="Aptos"/>
              </a:defRPr>
            </a:pPr>
            <a:r>
              <a:t>The forecast follows the broad seasonal pattern in the illustrative series.</a:t>
            </a:r>
          </a:p>
          <a:p>
            <a:pPr>
              <a:spcAft>
                <a:spcPts val="500"/>
              </a:spcAft>
              <a:defRPr sz="1400">
                <a:solidFill>
                  <a:srgbClr val="242A32"/>
                </a:solidFill>
                <a:latin typeface="Aptos"/>
              </a:defRPr>
            </a:pPr>
            <a:r>
              <a:t>Small deviations appear around peak months, showing where additional features may help.</a:t>
            </a:r>
          </a:p>
          <a:p>
            <a:pPr>
              <a:spcAft>
                <a:spcPts val="500"/>
              </a:spcAft>
              <a:defRPr sz="1400">
                <a:solidFill>
                  <a:srgbClr val="242A32"/>
                </a:solidFill>
                <a:latin typeface="Aptos"/>
              </a:defRPr>
            </a:pPr>
            <a:r>
              <a:t>Dashboard users can compare actual versus predicted arrivals by country or destination.</a:t>
            </a:r>
          </a:p>
          <a:p>
            <a:pPr>
              <a:spcAft>
                <a:spcPts val="500"/>
              </a:spcAft>
              <a:defRPr sz="1400">
                <a:solidFill>
                  <a:srgbClr val="242A32"/>
                </a:solidFill>
                <a:latin typeface="Aptos"/>
              </a:defRPr>
            </a:pPr>
            <a:r>
              <a:t>Results shown here are demonstration values, not measured project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4892040"/>
            <a:ext cx="4800600" cy="685800"/>
          </a:xfrm>
          <a:prstGeom prst="roundRect">
            <a:avLst/>
          </a:prstGeom>
          <a:solidFill>
            <a:srgbClr val="FCF8F8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300" b="1">
                <a:solidFill>
                  <a:srgbClr val="AD192C"/>
                </a:solidFill>
                <a:latin typeface="Aptos"/>
              </a:rPr>
              <a:t>Recommended output: forecast table + trend chart + alert when predicted capacity exceeds a threshold.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586069"/>
                </a:solidFill>
                <a:latin typeface="Aptos"/>
              </a:rPr>
              <a:t>Tourism Analytics  |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4BF6D3-0DAE-8ABD-42EE-D477A7219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01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Performance Evaluation</a:t>
            </a:r>
          </a:p>
        </p:txBody>
      </p:sp>
      <p:pic>
        <p:nvPicPr>
          <p:cNvPr id="4" name="Picture 3" descr="model_comparis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5120640" cy="286755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325880"/>
            <a:ext cx="516636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pPr algn="ctr">
              <a:spcAft>
                <a:spcPts val="500"/>
              </a:spcAft>
              <a:defRPr sz="1400">
                <a:solidFill>
                  <a:srgbClr val="242A32"/>
                </a:solidFill>
                <a:latin typeface="Aptos"/>
              </a:defRPr>
            </a:pPr>
            <a:r>
              <a:t>MAE: average absolute prediction error; easy to interpret.</a:t>
            </a:r>
          </a:p>
          <a:p>
            <a:pPr>
              <a:spcAft>
                <a:spcPts val="500"/>
              </a:spcAft>
              <a:defRPr sz="1400">
                <a:solidFill>
                  <a:srgbClr val="242A32"/>
                </a:solidFill>
                <a:latin typeface="Aptos"/>
              </a:defRPr>
            </a:pPr>
            <a:r>
              <a:t>RMSE: penalizes large errors more strongly.</a:t>
            </a:r>
          </a:p>
          <a:p>
            <a:pPr>
              <a:spcAft>
                <a:spcPts val="500"/>
              </a:spcAft>
              <a:defRPr sz="1400">
                <a:solidFill>
                  <a:srgbClr val="242A32"/>
                </a:solidFill>
                <a:latin typeface="Aptos"/>
              </a:defRPr>
            </a:pPr>
            <a:r>
              <a:t>MAPE: percentage-based error; problematic when actual values are near zero.</a:t>
            </a:r>
          </a:p>
          <a:p>
            <a:pPr>
              <a:spcAft>
                <a:spcPts val="500"/>
              </a:spcAft>
              <a:defRPr sz="1400">
                <a:solidFill>
                  <a:srgbClr val="242A32"/>
                </a:solidFill>
                <a:latin typeface="Aptos"/>
              </a:defRPr>
            </a:pPr>
            <a:r>
              <a:t>R²: proportion of variance explained; use with error metrics.</a:t>
            </a:r>
          </a:p>
          <a:p>
            <a:pPr>
              <a:spcAft>
                <a:spcPts val="500"/>
              </a:spcAft>
              <a:defRPr sz="1400">
                <a:solidFill>
                  <a:srgbClr val="242A32"/>
                </a:solidFill>
                <a:latin typeface="Aptos"/>
              </a:defRPr>
            </a:pPr>
            <a:r>
              <a:t>Evaluate against a naïve baseline and use chronological cross-validation.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5303520"/>
            <a:ext cx="51663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200" b="0">
                <a:solidFill>
                  <a:srgbClr val="586069"/>
                </a:solidFill>
                <a:latin typeface="Aptos"/>
              </a:rPr>
              <a:t>Illustrative model comparison — actual values should be calculated from the final dataset.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586069"/>
                </a:solidFill>
                <a:latin typeface="Aptos"/>
              </a:rPr>
              <a:t>Tourism Analytics  |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Research Paper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92024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Study /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1325880"/>
            <a:ext cx="27889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Data &amp; 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325880"/>
            <a:ext cx="297180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Relevant Contribution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325880"/>
            <a:ext cx="338328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Limitation /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01952"/>
            <a:ext cx="192024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Xu et al. (2023)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901952"/>
            <a:ext cx="278892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Daily demand; attention-based encoder–decoder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901952"/>
            <a:ext cx="297180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Uses temporal heterogeneity and interpretability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901952"/>
            <a:ext cx="33832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Higher complexity; destination-specific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70632"/>
            <a:ext cx="192024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Fu &amp; Qin (2026)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2770632"/>
            <a:ext cx="278892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Weekly arrivals; VMD/EWT + XGBoost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770632"/>
            <a:ext cx="297180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Leakage-free denoise–decompose–learn framework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770632"/>
            <a:ext cx="33832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Requires careful tuning and preprocessing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39312"/>
            <a:ext cx="192024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Tourism Forecasting (2026)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3639312"/>
            <a:ext cx="278892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Multi-period spatiotemporal deep learning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3639312"/>
            <a:ext cx="297180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Models spatial and temporal dependencies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639312"/>
            <a:ext cx="33832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Needs richer multi-destination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07992"/>
            <a:ext cx="192024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Post-pandemic RNN (2026)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4507992"/>
            <a:ext cx="278892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20 destinations; ensemble RNN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4507992"/>
            <a:ext cx="297180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Integrates external variables and destination relations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4507992"/>
            <a:ext cx="33832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000" b="0">
                <a:solidFill>
                  <a:srgbClr val="242A32"/>
                </a:solidFill>
                <a:latin typeface="Aptos"/>
              </a:rPr>
              <a:t>Generalization depends on changing conditions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15000"/>
            <a:ext cx="106984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300" b="1">
                <a:solidFill>
                  <a:srgbClr val="AD192C"/>
                </a:solidFill>
                <a:latin typeface="Aptos"/>
              </a:rPr>
              <a:t>Synthesis: recent research increasingly combines multi-source data, hybrid models and interpretability.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586069"/>
                </a:solidFill>
                <a:latin typeface="Aptos"/>
              </a:rPr>
              <a:t>Tourism Analytics  |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pPr algn="ctr"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Descriptive mining explains tourism behavior using trends, segmentation and anomaly analysis.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Predictive mining supports proactive planning by estimating future demand.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A layered architecture improves maintainability, scalability and integration with dashboards.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Model evaluation must consider accuracy, interpretability, data leakage and operational usefulness.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212080" cy="4480560"/>
          </a:xfrm>
          <a:prstGeom prst="roundRect">
            <a:avLst/>
          </a:prstGeom>
          <a:solidFill>
            <a:srgbClr val="FCF8F8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pPr algn="ctr"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Future Scope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• Real-time streaming from IoT counters and booking feeds.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• Multimodal sentiment analysis from reviews and social media.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• Explainable and uncertainty-aware forecasting.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• Geospatial heat maps for crowd and mobility management.</a:t>
            </a:r>
          </a:p>
          <a:p>
            <a:pPr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r>
              <a:t>• Model monitoring and automatic retraining.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>
                <a:solidFill>
                  <a:srgbClr val="586069"/>
                </a:solidFill>
                <a:latin typeface="Aptos"/>
              </a:rPr>
              <a:t>Tourism Analytics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962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gldhasini@gmail.com</cp:lastModifiedBy>
  <cp:revision>5</cp:revision>
  <dcterms:created xsi:type="dcterms:W3CDTF">2013-01-27T09:14:16Z</dcterms:created>
  <dcterms:modified xsi:type="dcterms:W3CDTF">2026-09-19T03:47:42Z</dcterms:modified>
  <cp:category/>
</cp:coreProperties>
</file>